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62371-02FC-486D-B76D-4F8003215C57}" v="285" dt="2026-03-10T02:16:20.656"/>
    <p1510:client id="{F95EFB53-3B95-4431-A070-A589841E9E88}" v="4" dt="2026-03-08T16:09:12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71600"/>
            <a:ext cx="3736920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OLYMPICS</a:t>
            </a:r>
            <a:endParaRPr lang="en-IN" dirty="0"/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 ATHLETES</a:t>
            </a:r>
            <a:br>
              <a:rPr dirty="0"/>
            </a:br>
            <a:r>
              <a:rPr dirty="0"/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42210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rPr lang="en-IN" dirty="0"/>
              <a:t>Exploratory Data Analysis</a:t>
            </a:r>
          </a:p>
          <a:p>
            <a:pPr>
              <a:defRPr sz="1800">
                <a:solidFill>
                  <a:srgbClr val="FFD700"/>
                </a:solidFill>
              </a:defRPr>
            </a:pPr>
            <a:r>
              <a:rPr dirty="0"/>
              <a:t>Model Comparison &amp; Best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228812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RAGHURAAM PRAKASAM</a:t>
            </a:r>
            <a:br>
              <a:rPr dirty="0"/>
            </a:br>
            <a:r>
              <a:rPr lang="en-IN" dirty="0"/>
              <a:t>Department NO: 23-UST-042</a:t>
            </a:r>
            <a:br>
              <a:rPr dirty="0"/>
            </a:br>
            <a:r>
              <a:rPr dirty="0"/>
              <a:t>Loyola College, Chennai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F797E9-572B-4D16-5FD0-6AC8C7946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9" y="4303931"/>
            <a:ext cx="4798771" cy="2543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CFF0AB-6E6D-D944-C063-1F620A61F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328" y="9822"/>
            <a:ext cx="4980672" cy="28504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5435" y="274320"/>
            <a:ext cx="51331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IN" dirty="0"/>
              <a:t>PROCESS OF THE PROJECT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7349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Collected Olympic athletes data (1900-2016)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Performed Exploratory Data Analysis (EDA)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Handled Class Imbalance using SMOTE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Built 3 Machine Learning Models: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    </a:t>
            </a:r>
            <a:r>
              <a:rPr dirty="0"/>
              <a:t>• Logistic </a:t>
            </a:r>
            <a:r>
              <a:rPr lang="en-US" dirty="0"/>
              <a:t>Regression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    </a:t>
            </a:r>
            <a:r>
              <a:rPr dirty="0"/>
              <a:t>• Decision Tree</a:t>
            </a:r>
            <a:endParaRPr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dirty="0"/>
              <a:t>    • Random Forest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Compared models &amp; selected the best one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Ø"/>
              <a:defRPr sz="2000"/>
            </a:pPr>
            <a:r>
              <a:rPr lang="en-US" dirty="0"/>
              <a:t> </a:t>
            </a:r>
            <a:r>
              <a:rPr dirty="0"/>
              <a:t> Identified key features for medal winning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4307" y="1097280"/>
            <a:ext cx="5272597" cy="461664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  <a:defRPr sz="1800"/>
            </a:pPr>
            <a:r>
              <a:rPr dirty="0"/>
              <a:t> </a:t>
            </a:r>
            <a:r>
              <a:rPr sz="2000" b="1" dirty="0">
                <a:solidFill>
                  <a:schemeClr val="accent1"/>
                </a:solidFill>
              </a:rPr>
              <a:t>Data Preprocessing:</a:t>
            </a:r>
            <a:endParaRPr lang="en-US" sz="2000" b="1">
              <a:solidFill>
                <a:schemeClr val="accent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dirty="0"/>
              <a:t>  </a:t>
            </a:r>
            <a:r>
              <a:rPr lang="en-US" dirty="0"/>
              <a:t> </a:t>
            </a:r>
            <a:r>
              <a:rPr dirty="0"/>
              <a:t> Cleaned missing values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dirty="0"/>
              <a:t> </a:t>
            </a:r>
            <a:r>
              <a:rPr lang="en-US" dirty="0"/>
              <a:t>Encoded</a:t>
            </a:r>
            <a:r>
              <a:rPr dirty="0"/>
              <a:t> categorical </a:t>
            </a:r>
            <a:r>
              <a:rPr lang="en-US" dirty="0"/>
              <a:t>variables</a:t>
            </a:r>
            <a:endParaRPr dirty="0" err="1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lang="en-US" dirty="0"/>
              <a:t> </a:t>
            </a:r>
            <a:r>
              <a:rPr dirty="0"/>
              <a:t>Created binary target (Medal: Yes/No)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 algn="ctr">
              <a:spcAft>
                <a:spcPts val="600"/>
              </a:spcAft>
              <a:defRPr sz="1800"/>
            </a:pPr>
            <a:r>
              <a:rPr dirty="0"/>
              <a:t> SMOTE Technique:</a:t>
            </a: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lang="en-US" dirty="0"/>
              <a:t> </a:t>
            </a:r>
            <a:r>
              <a:rPr dirty="0"/>
              <a:t>Original: 88% No Medal, 12% Medal (Imbalanced!)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dirty="0"/>
              <a:t>After SMOTE: 50% vs 50% (Balanced)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lang="en-US" dirty="0"/>
              <a:t> </a:t>
            </a:r>
            <a:r>
              <a:rPr dirty="0"/>
              <a:t>Created 852 synthetic samples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 algn="ctr">
              <a:spcAft>
                <a:spcPts val="600"/>
              </a:spcAft>
              <a:defRPr sz="1800"/>
            </a:pPr>
            <a:r>
              <a:rPr dirty="0"/>
              <a:t> Model Training:</a:t>
            </a: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lang="en-US" dirty="0"/>
              <a:t> </a:t>
            </a:r>
            <a:r>
              <a:rPr dirty="0"/>
              <a:t>Train-Test Split: 80-20</a:t>
            </a:r>
            <a:endParaRPr dirty="0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Wingdings"/>
              <a:buChar char="v"/>
              <a:defRPr sz="1800"/>
            </a:pPr>
            <a:r>
              <a:rPr lang="en-IN" dirty="0"/>
              <a:t> </a:t>
            </a:r>
            <a:r>
              <a:rPr dirty="0"/>
              <a:t>Built 3 classification models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9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2436886" cy="390876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  <a:defRPr sz="1600"/>
            </a:pPr>
            <a:r>
              <a:rPr dirty="0"/>
              <a:t> Balanced Dataset: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   1,964 samples</a:t>
            </a:r>
          </a:p>
          <a:p>
            <a:pPr>
              <a:spcAft>
                <a:spcPts val="400"/>
              </a:spcAft>
              <a:defRPr sz="1600"/>
            </a:pP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Features Used:</a:t>
            </a:r>
          </a:p>
          <a:p>
            <a:pPr>
              <a:spcAft>
                <a:spcPts val="400"/>
              </a:spcAft>
              <a:defRPr sz="1600"/>
            </a:pPr>
            <a:r>
              <a:rPr lang="en-US" dirty="0"/>
              <a:t>•</a:t>
            </a:r>
            <a:r>
              <a:rPr dirty="0"/>
              <a:t> Age (numerical)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400"/>
              </a:spcAft>
              <a:defRPr sz="1600"/>
            </a:pPr>
            <a:r>
              <a:rPr dirty="0"/>
              <a:t>• Height (numerical)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Weight (numerical)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Sex (encoded)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Team/Country (encoded)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Sport (encoded)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• Season (encoded)</a:t>
            </a:r>
          </a:p>
          <a:p>
            <a:pPr>
              <a:spcAft>
                <a:spcPts val="400"/>
              </a:spcAft>
              <a:defRPr sz="1600"/>
            </a:pPr>
            <a:endParaRPr dirty="0"/>
          </a:p>
          <a:p>
            <a:pPr>
              <a:spcAft>
                <a:spcPts val="400"/>
              </a:spcAft>
              <a:defRPr sz="1600"/>
            </a:pPr>
            <a:r>
              <a:rPr dirty="0"/>
              <a:t>Target: Medal</a:t>
            </a:r>
            <a:r>
              <a:rPr lang="en-US" dirty="0"/>
              <a:t> </a:t>
            </a:r>
            <a:r>
              <a:rPr dirty="0"/>
              <a:t>Won (1/0)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SMOTE: SOLVING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662127" cy="491416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dirty="0"/>
              <a:t> Problem: Imbalanced Dataset</a:t>
            </a: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Before SMOTE: 88% No Medal | 12% Medal Won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Models become biased towards majority class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 algn="ctr">
              <a:spcAft>
                <a:spcPts val="800"/>
              </a:spcAft>
              <a:defRPr sz="2000"/>
            </a:pPr>
            <a:r>
              <a:rPr dirty="0"/>
              <a:t> Solution: SMOTE</a:t>
            </a: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Synthetic Minority Over-sampling Technique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Creates new synthetic samples for minority class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Uses k-nearest neighbors to generate samples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 algn="ctr">
              <a:spcAft>
                <a:spcPts val="800"/>
              </a:spcAft>
              <a:defRPr sz="2000"/>
            </a:pPr>
            <a:r>
              <a:rPr dirty="0"/>
              <a:t> Result:</a:t>
            </a: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After SMOTE: 50% No Medal | 50% Medal Won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Wingdings"/>
              <a:buChar char="v"/>
              <a:defRPr sz="2000"/>
            </a:pPr>
            <a:r>
              <a:rPr lang="en-US" dirty="0"/>
              <a:t> </a:t>
            </a:r>
            <a:r>
              <a:rPr dirty="0"/>
              <a:t>Now models can learn equally from both classes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7103" y="274320"/>
            <a:ext cx="46297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THREE ML MODELS 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220753" cy="497059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285750" indent="-285750">
              <a:spcAft>
                <a:spcPts val="600"/>
              </a:spcAft>
              <a:buFont typeface="Wingdings"/>
              <a:buChar char="Ø"/>
              <a:defRPr sz="1800"/>
            </a:pPr>
            <a:r>
              <a:rPr lang="en-US" dirty="0"/>
              <a:t> </a:t>
            </a:r>
            <a:r>
              <a:rPr dirty="0"/>
              <a:t>LOGISTIC REGRESSION</a:t>
            </a:r>
            <a:endParaRPr lang="en-US"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   • Simple linear classifier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Uses sigmoid function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Good baseline model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 marL="285750" indent="-285750">
              <a:spcAft>
                <a:spcPts val="600"/>
              </a:spcAft>
              <a:buFont typeface="Wingdings"/>
              <a:buChar char="Ø"/>
              <a:defRPr sz="1800"/>
            </a:pPr>
            <a:r>
              <a:rPr lang="en-US" dirty="0"/>
              <a:t> </a:t>
            </a:r>
            <a:r>
              <a:rPr dirty="0"/>
              <a:t>DECISION TREE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Tree-based splits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Captures non-linear patterns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Easy to visualize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 marL="285750" indent="-285750">
              <a:spcAft>
                <a:spcPts val="600"/>
              </a:spcAft>
              <a:buFont typeface="Wingdings"/>
              <a:buChar char="Ø"/>
              <a:defRPr sz="1800"/>
            </a:pPr>
            <a:r>
              <a:rPr lang="en-US" dirty="0"/>
              <a:t> </a:t>
            </a:r>
            <a:r>
              <a:rPr dirty="0"/>
              <a:t>RANDOM FOREST 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Ensemble of 100 trees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Most powerful &amp; robust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800"/>
            </a:pPr>
            <a:r>
              <a:rPr dirty="0"/>
              <a:t>   • Reduces overfitting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088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MODEL ACCURACY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088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ALL PERFORMANCE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7295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🏆 WINNER:</a:t>
            </a:r>
          </a:p>
          <a:p>
            <a:pPr>
              <a:spcAft>
                <a:spcPts val="400"/>
              </a:spcAft>
              <a:defRPr sz="1600"/>
            </a:pPr>
            <a:r>
              <a:t>   Random Forest</a:t>
            </a:r>
          </a:p>
          <a:p>
            <a:pPr>
              <a:spcAft>
                <a:spcPts val="400"/>
              </a:spcAft>
              <a:defRPr sz="1600"/>
            </a:pPr>
            <a:r>
              <a:t>   92.5% Accuracy</a:t>
            </a:r>
          </a:p>
          <a:p>
            <a:pPr>
              <a:spcAft>
                <a:spcPts val="400"/>
              </a:spcAft>
              <a:defRPr sz="1600"/>
            </a:pPr>
            <a:endParaRPr/>
          </a:p>
          <a:p>
            <a:pPr>
              <a:spcAft>
                <a:spcPts val="400"/>
              </a:spcAft>
              <a:defRPr sz="1600"/>
            </a:pPr>
            <a:r>
              <a:t>📊 Feature Importance:</a:t>
            </a:r>
          </a:p>
          <a:p>
            <a:pPr>
              <a:spcAft>
                <a:spcPts val="400"/>
              </a:spcAft>
              <a:defRPr sz="1600"/>
            </a:pPr>
            <a:r>
              <a:t>1. Sport (68.6%)</a:t>
            </a:r>
          </a:p>
          <a:p>
            <a:pPr>
              <a:spcAft>
                <a:spcPts val="400"/>
              </a:spcAft>
              <a:defRPr sz="1600"/>
            </a:pPr>
            <a:r>
              <a:t>2. Team/Country (22.5%)</a:t>
            </a:r>
          </a:p>
          <a:p>
            <a:pPr>
              <a:spcAft>
                <a:spcPts val="400"/>
              </a:spcAft>
              <a:defRPr sz="1600"/>
            </a:pPr>
            <a:r>
              <a:t>3. Age (4.9%)</a:t>
            </a:r>
          </a:p>
          <a:p>
            <a:pPr>
              <a:spcAft>
                <a:spcPts val="400"/>
              </a:spcAft>
              <a:defRPr sz="1600"/>
            </a:pPr>
            <a:endParaRPr/>
          </a:p>
          <a:p>
            <a:pPr>
              <a:spcAft>
                <a:spcPts val="400"/>
              </a:spcAft>
              <a:defRPr sz="1600"/>
            </a:pPr>
            <a:r>
              <a:t>💡 Insight:</a:t>
            </a:r>
          </a:p>
          <a:p>
            <a:pPr>
              <a:spcAft>
                <a:spcPts val="400"/>
              </a:spcAft>
              <a:defRPr sz="1600"/>
            </a:pPr>
            <a:r>
              <a:t>   Sport type is the</a:t>
            </a:r>
          </a:p>
          <a:p>
            <a:pPr>
              <a:spcAft>
                <a:spcPts val="400"/>
              </a:spcAft>
              <a:defRPr sz="1600"/>
            </a:pPr>
            <a:r>
              <a:t>   #1 predictor of</a:t>
            </a:r>
          </a:p>
          <a:p>
            <a:pPr>
              <a:spcAft>
                <a:spcPts val="400"/>
              </a:spcAft>
              <a:defRPr sz="1600"/>
            </a:pPr>
            <a:r>
              <a:t>   medal winning!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134932" cy="491416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Wingdings"/>
              <a:buChar char="ü"/>
              <a:defRPr sz="2000"/>
            </a:pPr>
            <a:r>
              <a:rPr dirty="0"/>
              <a:t> Successfully analyzed Olympic athletes data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ü"/>
              <a:defRPr sz="2000"/>
            </a:pPr>
            <a:r>
              <a:rPr dirty="0"/>
              <a:t> Applied SMOTE to handle class imbalance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ü"/>
              <a:defRPr sz="2000"/>
            </a:pPr>
            <a:r>
              <a:rPr dirty="0"/>
              <a:t> Built and compared 3 ML models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 marL="342900" indent="-342900">
              <a:spcAft>
                <a:spcPts val="800"/>
              </a:spcAft>
              <a:buFont typeface="Wingdings"/>
              <a:buChar char="ü"/>
              <a:defRPr sz="2000"/>
            </a:pPr>
            <a:r>
              <a:rPr dirty="0"/>
              <a:t> Random Forest selected as BEST (92.5%)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rPr dirty="0"/>
              <a:t>Key Takeaways: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dirty="0"/>
              <a:t>• Sport type is the top predictor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dirty="0"/>
              <a:t>• Country/Team matters for success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2000"/>
            </a:pPr>
            <a:r>
              <a:rPr dirty="0"/>
              <a:t>• SMOTE improved model performance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6073" y="1861719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32609" y="3361335"/>
            <a:ext cx="3825085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br>
              <a:rPr dirty="0"/>
            </a:br>
            <a:r>
              <a:rPr dirty="0"/>
              <a:t>RAGHURAAM PRAKASAM</a:t>
            </a:r>
            <a:br>
              <a:rPr dirty="0"/>
            </a:br>
            <a:r>
              <a:rPr lang="en-IN" dirty="0"/>
              <a:t>Department NO: 23-UST-042</a:t>
            </a:r>
            <a:br>
              <a:rPr dirty="0"/>
            </a:br>
            <a:r>
              <a:rPr dirty="0"/>
              <a:t>Loyola College (Autonomous), Chennai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500</Words>
  <Application>Microsoft Office PowerPoint</Application>
  <PresentationFormat>On-screen Show (4:3)</PresentationFormat>
  <Paragraphs>106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raghuraam prakasam</cp:lastModifiedBy>
  <cp:revision>71</cp:revision>
  <dcterms:created xsi:type="dcterms:W3CDTF">2013-01-27T09:14:16Z</dcterms:created>
  <dcterms:modified xsi:type="dcterms:W3CDTF">2026-03-10T02:16:37Z</dcterms:modified>
  <cp:category/>
</cp:coreProperties>
</file>