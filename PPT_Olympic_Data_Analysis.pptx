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raam prakasam" userId="59d7a6b5f274b407" providerId="LiveId" clId="{044B0D0E-239F-42AD-90BB-86A7BCC55120}"/>
    <pc:docChg chg="custSel modSld">
      <pc:chgData name="raghuraam prakasam" userId="59d7a6b5f274b407" providerId="LiveId" clId="{044B0D0E-239F-42AD-90BB-86A7BCC55120}" dt="2026-03-07T07:14:04.256" v="177" actId="20577"/>
      <pc:docMkLst>
        <pc:docMk/>
      </pc:docMkLst>
      <pc:sldChg chg="modSp mod">
        <pc:chgData name="raghuraam prakasam" userId="59d7a6b5f274b407" providerId="LiveId" clId="{044B0D0E-239F-42AD-90BB-86A7BCC55120}" dt="2026-03-07T07:14:04.256" v="177" actId="20577"/>
        <pc:sldMkLst>
          <pc:docMk/>
          <pc:sldMk cId="0" sldId="256"/>
        </pc:sldMkLst>
        <pc:spChg chg="mod">
          <ac:chgData name="raghuraam prakasam" userId="59d7a6b5f274b407" providerId="LiveId" clId="{044B0D0E-239F-42AD-90BB-86A7BCC55120}" dt="2026-03-07T07:14:04.256" v="177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raghuraam prakasam" userId="59d7a6b5f274b407" providerId="LiveId" clId="{044B0D0E-239F-42AD-90BB-86A7BCC55120}" dt="2026-03-07T07:13:32.810" v="130" actId="20577"/>
        <pc:sldMkLst>
          <pc:docMk/>
          <pc:sldMk cId="0" sldId="265"/>
        </pc:sldMkLst>
        <pc:spChg chg="mod">
          <ac:chgData name="raghuraam prakasam" userId="59d7a6b5f274b407" providerId="LiveId" clId="{044B0D0E-239F-42AD-90BB-86A7BCC55120}" dt="2026-03-07T07:13:32.810" v="130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2743200" cy="2198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OLYMPICS ATHLETES</a:t>
            </a:r>
            <a:br/>
            <a: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Model Comparison &amp; Best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258744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RAGHURAAM PRAKASAM</a:t>
            </a:r>
            <a:br>
              <a:rPr dirty="0"/>
            </a:br>
            <a:r>
              <a:rPr lang="en-IN" dirty="0"/>
              <a:t>Department NO: 23-UST-042</a:t>
            </a:r>
            <a:br>
              <a:rPr dirty="0"/>
            </a:br>
            <a:r>
              <a:rPr dirty="0"/>
              <a:t>Loyola College, Chennai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Comprehensive EDA of Olympic Athletes Data (1900-2016)</a:t>
            </a:r>
            <a:br/>
            <a:br/>
            <a:r>
              <a:t>• 1,499 athletes, 15 features analyzed</a:t>
            </a:r>
            <a:br/>
            <a:br/>
            <a:r>
              <a:t>• Three ML Models Developed:</a:t>
            </a:r>
            <a:br/>
            <a:r>
              <a:t>   - Logistic Regression (91.33%)</a:t>
            </a:r>
            <a:br/>
            <a:r>
              <a:t>   - Decision Tree (92.97%)</a:t>
            </a:r>
            <a:br/>
            <a:r>
              <a:t>   - Random Forest (97.33%) ⭐</a:t>
            </a:r>
            <a:br/>
            <a:br/>
            <a:r>
              <a:t>• Winner: Random Forest with 97.33% accuracy</a:t>
            </a:r>
            <a:br/>
            <a:br/>
            <a:r>
              <a:t>• Key Finding: Sport type is the #1 predictor of medal winning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8498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74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PROBLEM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Research Question:</a:t>
            </a:r>
          </a:p>
          <a:p>
            <a:pPr>
              <a:spcAft>
                <a:spcPts val="400"/>
              </a:spcAft>
              <a:defRPr sz="1600"/>
            </a:pPr>
            <a:r>
              <a:t>Can we predict Olympic medal winners?</a:t>
            </a:r>
          </a:p>
          <a:p>
            <a:pPr>
              <a:spcAft>
                <a:spcPts val="400"/>
              </a:spcAft>
              <a:defRPr sz="1600"/>
            </a:pPr>
            <a:endParaRPr/>
          </a:p>
          <a:p>
            <a:pPr>
              <a:spcAft>
                <a:spcPts val="400"/>
              </a:spcAft>
              <a:defRPr sz="1600"/>
            </a:pPr>
            <a:r>
              <a:t>Dataset:</a:t>
            </a:r>
          </a:p>
          <a:p>
            <a:pPr>
              <a:spcAft>
                <a:spcPts val="400"/>
              </a:spcAft>
              <a:defRPr sz="1600"/>
            </a:pPr>
            <a:r>
              <a:t>• 1,499 athlete records</a:t>
            </a:r>
          </a:p>
          <a:p>
            <a:pPr>
              <a:spcAft>
                <a:spcPts val="400"/>
              </a:spcAft>
              <a:defRPr sz="1600"/>
            </a:pPr>
            <a:r>
              <a:t>• Year: 1900-2016</a:t>
            </a:r>
          </a:p>
          <a:p>
            <a:pPr>
              <a:spcAft>
                <a:spcPts val="400"/>
              </a:spcAft>
              <a:defRPr sz="1600"/>
            </a:pPr>
            <a:r>
              <a:t>• 50 sports, 125 countries</a:t>
            </a:r>
          </a:p>
          <a:p>
            <a:pPr>
              <a:spcAft>
                <a:spcPts val="400"/>
              </a:spcAft>
              <a:defRPr sz="1600"/>
            </a:pPr>
            <a:endParaRPr/>
          </a:p>
          <a:p>
            <a:pPr>
              <a:spcAft>
                <a:spcPts val="400"/>
              </a:spcAft>
              <a:defRPr sz="1600"/>
            </a:pPr>
            <a:r>
              <a:t>Features:</a:t>
            </a:r>
          </a:p>
          <a:p>
            <a:pPr>
              <a:spcAft>
                <a:spcPts val="400"/>
              </a:spcAft>
              <a:defRPr sz="1600"/>
            </a:pPr>
            <a:r>
              <a:t>• Age, Height, Weight</a:t>
            </a:r>
          </a:p>
          <a:p>
            <a:pPr>
              <a:spcAft>
                <a:spcPts val="400"/>
              </a:spcAft>
              <a:defRPr sz="1600"/>
            </a:pPr>
            <a:r>
              <a:t>• Sex, Sport, Team, Season</a:t>
            </a:r>
          </a:p>
          <a:p>
            <a:pPr>
              <a:spcAft>
                <a:spcPts val="400"/>
              </a:spcAft>
              <a:defRPr sz="1600"/>
            </a:pPr>
            <a:endParaRPr/>
          </a:p>
          <a:p>
            <a:pPr>
              <a:spcAft>
                <a:spcPts val="400"/>
              </a:spcAft>
              <a:defRPr sz="1600"/>
            </a:pPr>
            <a:r>
              <a:t>Target: Medal (1) / No Medal (0)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114800" cy="2446713"/>
          </a:xfrm>
          <a:prstGeom prst="rect">
            <a:avLst/>
          </a:prstGeom>
        </p:spPr>
      </p:pic>
      <p:pic>
        <p:nvPicPr>
          <p:cNvPr id="3" name="Picture 2" descr="coun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114800" cy="24467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EXPLORATORY DATA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114800" cy="3257222"/>
          </a:xfrm>
          <a:prstGeom prst="rect">
            <a:avLst/>
          </a:prstGeom>
        </p:spPr>
      </p:pic>
      <p:pic>
        <p:nvPicPr>
          <p:cNvPr id="3" name="Picture 2" descr="h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114800" cy="3257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ATHLETE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760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Avg Age: 25.4 years | Avg Height: 175.7 cm | Avg Weight: 71.5 kg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MACHINE LEARNING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3366"/>
                </a:solidFill>
              </a:defRPr>
            </a:pPr>
            <a:r>
              <a:t>MODEL 1: LOGISTIC REGRESSION</a:t>
            </a:r>
          </a:p>
          <a:p>
            <a:pPr>
              <a:spcAft>
                <a:spcPts val="600"/>
              </a:spcAft>
              <a:defRPr sz="1600"/>
            </a:pPr>
            <a:r>
              <a:t>• Linear classifier using sigmoid function</a:t>
            </a:r>
          </a:p>
          <a:p>
            <a:pPr>
              <a:spcAft>
                <a:spcPts val="600"/>
              </a:spcAft>
              <a:defRPr sz="1600"/>
            </a:pPr>
            <a:r>
              <a:t>• Good baseline model</a:t>
            </a:r>
          </a:p>
          <a:p>
            <a:pPr>
              <a:spcAft>
                <a:spcPts val="600"/>
              </a:spcAft>
              <a:defRPr sz="1600"/>
            </a:pPr>
            <a:r>
              <a:t>• Accuracy: 91.33%</a:t>
            </a:r>
          </a:p>
          <a:p>
            <a:pPr>
              <a:spcAft>
                <a:spcPts val="600"/>
              </a:spcAft>
              <a:defRPr sz="1600"/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003366"/>
                </a:solidFill>
              </a:defRPr>
            </a:pPr>
            <a:r>
              <a:t>MODEL 2: DECISION TREE</a:t>
            </a:r>
          </a:p>
          <a:p>
            <a:pPr>
              <a:spcAft>
                <a:spcPts val="600"/>
              </a:spcAft>
              <a:defRPr sz="1600"/>
            </a:pPr>
            <a:r>
              <a:t>• Tree-based splits on feature values</a:t>
            </a:r>
          </a:p>
          <a:p>
            <a:pPr>
              <a:spcAft>
                <a:spcPts val="600"/>
              </a:spcAft>
              <a:defRPr sz="1600"/>
            </a:pPr>
            <a:r>
              <a:t>• Captures non-linear patterns</a:t>
            </a:r>
          </a:p>
          <a:p>
            <a:pPr>
              <a:spcAft>
                <a:spcPts val="600"/>
              </a:spcAft>
              <a:defRPr sz="1600"/>
            </a:pPr>
            <a:r>
              <a:t>• Accuracy: 92.97%</a:t>
            </a:r>
          </a:p>
          <a:p>
            <a:pPr>
              <a:spcAft>
                <a:spcPts val="600"/>
              </a:spcAft>
              <a:defRPr sz="1600"/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003366"/>
                </a:solidFill>
              </a:defRPr>
            </a:pPr>
            <a:r>
              <a:t>MODEL 3: RANDOM FOREST ⭐</a:t>
            </a:r>
          </a:p>
          <a:p>
            <a:pPr>
              <a:spcAft>
                <a:spcPts val="600"/>
              </a:spcAft>
              <a:defRPr sz="1600"/>
            </a:pPr>
            <a:r>
              <a:t>• Ensemble of 100 Decision Trees</a:t>
            </a:r>
          </a:p>
          <a:p>
            <a:pPr>
              <a:spcAft>
                <a:spcPts val="600"/>
              </a:spcAft>
              <a:defRPr sz="1600"/>
            </a:pPr>
            <a:r>
              <a:t>• Most powerful &amp; robust</a:t>
            </a:r>
          </a:p>
          <a:p>
            <a:pPr>
              <a:spcAft>
                <a:spcPts val="600"/>
              </a:spcAft>
              <a:defRPr sz="1600"/>
            </a:pPr>
            <a:r>
              <a:t>• Accuracy: 97.33% 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el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9088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MODEL COMPARISON -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456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74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RESULTS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7800"/>
                </a:solidFill>
              </a:defRPr>
            </a:pPr>
            <a:r>
              <a:t>🏆 WINNER: Random Forest</a:t>
            </a:r>
          </a:p>
          <a:p>
            <a:pPr>
              <a:spcAft>
                <a:spcPts val="400"/>
              </a:spcAft>
              <a:defRPr sz="1400"/>
            </a:pPr>
            <a:endParaRPr/>
          </a:p>
          <a:p>
            <a:pPr>
              <a:spcAft>
                <a:spcPts val="400"/>
              </a:spcAft>
              <a:defRPr sz="1400"/>
            </a:pPr>
            <a:r>
              <a:t>Performance Metrics:</a:t>
            </a:r>
          </a:p>
          <a:p>
            <a:pPr>
              <a:spcAft>
                <a:spcPts val="400"/>
              </a:spcAft>
              <a:defRPr sz="1400"/>
            </a:pPr>
            <a:r>
              <a:t>• Accuracy: 97.33%</a:t>
            </a:r>
          </a:p>
          <a:p>
            <a:pPr>
              <a:spcAft>
                <a:spcPts val="400"/>
              </a:spcAft>
              <a:defRPr sz="1400"/>
            </a:pPr>
            <a:r>
              <a:t>• Precision: 95.65%</a:t>
            </a:r>
          </a:p>
          <a:p>
            <a:pPr>
              <a:spcAft>
                <a:spcPts val="400"/>
              </a:spcAft>
              <a:defRPr sz="1400"/>
            </a:pPr>
            <a:r>
              <a:t>• Recall: 78.57%</a:t>
            </a:r>
          </a:p>
          <a:p>
            <a:pPr>
              <a:spcAft>
                <a:spcPts val="400"/>
              </a:spcAft>
              <a:defRPr sz="1400"/>
            </a:pPr>
            <a:r>
              <a:t>• F1-Score: 86.30%</a:t>
            </a:r>
          </a:p>
          <a:p>
            <a:pPr>
              <a:spcAft>
                <a:spcPts val="400"/>
              </a:spcAft>
              <a:defRPr sz="1400"/>
            </a:pPr>
            <a:endParaRPr/>
          </a:p>
          <a:p>
            <a:pPr>
              <a:spcAft>
                <a:spcPts val="400"/>
              </a:spcAft>
              <a:defRPr sz="1400"/>
            </a:pPr>
            <a:r>
              <a:t>Key Insights:</a:t>
            </a:r>
          </a:p>
          <a:p>
            <a:pPr>
              <a:spcAft>
                <a:spcPts val="400"/>
              </a:spcAft>
              <a:defRPr sz="1400"/>
            </a:pPr>
            <a:r>
              <a:t>• Sport is #1 predictor (68.6%)</a:t>
            </a:r>
          </a:p>
          <a:p>
            <a:pPr>
              <a:spcAft>
                <a:spcPts val="400"/>
              </a:spcAft>
              <a:defRPr sz="1400"/>
            </a:pPr>
            <a:r>
              <a:t>• Team/Country matters (22.5%)</a:t>
            </a:r>
          </a:p>
          <a:p>
            <a:pPr>
              <a:spcAft>
                <a:spcPts val="400"/>
              </a:spcAft>
              <a:defRPr sz="1400"/>
            </a:pPr>
            <a:r>
              <a:t>• Age has moderate impact (4.9%)</a:t>
            </a:r>
          </a:p>
          <a:p>
            <a:pPr>
              <a:spcAft>
                <a:spcPts val="400"/>
              </a:spcAft>
              <a:defRPr sz="1400"/>
            </a:pPr>
            <a:endParaRPr/>
          </a:p>
          <a:p>
            <a:pPr>
              <a:spcAft>
                <a:spcPts val="400"/>
              </a:spcAft>
              <a:defRPr sz="1400"/>
            </a:pPr>
            <a:r>
              <a:t>Random Forest correctly predicts</a:t>
            </a:r>
          </a:p>
          <a:p>
            <a:pPr>
              <a:spcAft>
                <a:spcPts val="400"/>
              </a:spcAft>
              <a:defRPr sz="1400"/>
            </a:pPr>
            <a:r>
              <a:t>270 non-winners &amp; 22 medalists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✅ Successfully performed EDA on Olympic athletes data</a:t>
            </a:r>
          </a:p>
          <a:p>
            <a:pPr>
              <a:spcAft>
                <a:spcPts val="600"/>
              </a:spcAft>
              <a:defRPr sz="1600"/>
            </a:pPr>
            <a:endParaRPr/>
          </a:p>
          <a:p>
            <a:pPr>
              <a:spcAft>
                <a:spcPts val="600"/>
              </a:spcAft>
              <a:defRPr sz="1800" b="1"/>
            </a:pPr>
            <a:r>
              <a:t>✅ Built three ML classification models</a:t>
            </a:r>
          </a:p>
          <a:p>
            <a:pPr>
              <a:spcAft>
                <a:spcPts val="600"/>
              </a:spcAft>
              <a:defRPr sz="1600"/>
            </a:pPr>
            <a:endParaRPr/>
          </a:p>
          <a:p>
            <a:pPr>
              <a:spcAft>
                <a:spcPts val="600"/>
              </a:spcAft>
              <a:defRPr sz="1800" b="1"/>
            </a:pPr>
            <a:r>
              <a:t>✅ Random Forest emerged as BEST model (97.33%)</a:t>
            </a:r>
          </a:p>
          <a:p>
            <a:pPr>
              <a:spcAft>
                <a:spcPts val="600"/>
              </a:spcAft>
              <a:defRPr sz="1600"/>
            </a:pPr>
            <a:endParaRPr/>
          </a:p>
          <a:p>
            <a:pPr>
              <a:spcAft>
                <a:spcPts val="600"/>
              </a:spcAft>
              <a:defRPr sz="1600"/>
            </a:pPr>
            <a:r>
              <a:t>Key Takeaways:</a:t>
            </a:r>
          </a:p>
          <a:p>
            <a:pPr>
              <a:spcAft>
                <a:spcPts val="600"/>
              </a:spcAft>
              <a:defRPr sz="1600"/>
            </a:pPr>
            <a:r>
              <a:t>• Sport type is the strongest predictor of medal winning</a:t>
            </a:r>
          </a:p>
          <a:p>
            <a:pPr>
              <a:spcAft>
                <a:spcPts val="600"/>
              </a:spcAft>
              <a:defRPr sz="1600"/>
            </a:pPr>
            <a:r>
              <a:t>• Country/Team significantly influences success</a:t>
            </a:r>
          </a:p>
          <a:p>
            <a:pPr>
              <a:spcAft>
                <a:spcPts val="600"/>
              </a:spcAft>
              <a:defRPr sz="1600"/>
            </a:pPr>
            <a:r>
              <a:t>• Physical attributes have moderate impact</a:t>
            </a:r>
          </a:p>
          <a:p>
            <a:pPr>
              <a:spcAft>
                <a:spcPts val="600"/>
              </a:spcAft>
              <a:defRPr sz="1600"/>
            </a:pPr>
            <a:endParaRPr/>
          </a:p>
          <a:p>
            <a:pPr>
              <a:spcAft>
                <a:spcPts val="600"/>
              </a:spcAft>
              <a:defRPr sz="1600"/>
            </a:pPr>
            <a:r>
              <a:t>Business Impact:</a:t>
            </a:r>
          </a:p>
          <a:p>
            <a:pPr>
              <a:spcAft>
                <a:spcPts val="600"/>
              </a:spcAft>
              <a:defRPr sz="1600"/>
            </a:pPr>
            <a:r>
              <a:t>• Helps identify potential medal prospects</a:t>
            </a:r>
          </a:p>
          <a:p>
            <a:pPr>
              <a:spcAft>
                <a:spcPts val="600"/>
              </a:spcAft>
              <a:defRPr sz="1600"/>
            </a:pPr>
            <a:r>
              <a:t>• Guides resource allocation for sports programs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D70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63497" y="4114800"/>
            <a:ext cx="3817006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br>
              <a:rPr dirty="0"/>
            </a:br>
            <a:br>
              <a:rPr dirty="0"/>
            </a:br>
            <a:r>
              <a:rPr dirty="0"/>
              <a:t>RAGHURAAM PRAKASAM</a:t>
            </a:r>
            <a:br>
              <a:rPr dirty="0"/>
            </a:br>
            <a:r>
              <a:rPr lang="en-IN" dirty="0"/>
              <a:t>Department N0: 23 –UST-042</a:t>
            </a:r>
            <a:br>
              <a:rPr dirty="0"/>
            </a:br>
            <a:r>
              <a:rPr dirty="0"/>
              <a:t>Loyola College (Autonomous), Chennai</a:t>
            </a:r>
            <a:br>
              <a:rPr dirty="0"/>
            </a:br>
            <a:br>
              <a:rPr dirty="0"/>
            </a:br>
            <a:r>
              <a:rPr dirty="0"/>
              <a:t>D</a:t>
            </a:r>
            <a:r>
              <a:rPr lang="en-IN" dirty="0" err="1"/>
              <a:t>epartment</a:t>
            </a:r>
            <a:r>
              <a:rPr lang="en-IN" dirty="0"/>
              <a:t> of Statistics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414</Words>
  <Application>Microsoft Office PowerPoint</Application>
  <PresentationFormat>On-screen Show (4:3)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raghuraam prakasam</cp:lastModifiedBy>
  <cp:revision>1</cp:revision>
  <dcterms:created xsi:type="dcterms:W3CDTF">2013-01-27T09:14:16Z</dcterms:created>
  <dcterms:modified xsi:type="dcterms:W3CDTF">2026-03-07T07:14:07Z</dcterms:modified>
  <cp:category/>
</cp:coreProperties>
</file>